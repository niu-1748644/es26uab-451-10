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SMZrkbD3eWG8ImFfamjTshZca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0D16E5-DCBF-4C06-AA11-F58CF25B8575}">
  <a:tblStyle styleId="{500D16E5-DCBF-4C06-AA11-F58CF25B85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ca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77b336a1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e77b336a1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2edbd5e57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e2edbd5e57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8261b0bf9_4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8261b0bf9_4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8261b0bf9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e8261b0bf9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8261b0bf9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8261b0bf9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e8261b0bf9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8261b0bf9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e8261b0bf9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8261b0bf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8261b0bf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e8261b0bf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576072" y="1124712"/>
            <a:ext cx="11036808" cy="3172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576072" y="4727448"/>
            <a:ext cx="1103680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5760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869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21" name="Google Shape;21;p10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0"/>
          <p:cNvSpPr/>
          <p:nvPr/>
        </p:nvSpPr>
        <p:spPr>
          <a:xfrm flipH="1" rot="10800000">
            <a:off x="578652" y="4501201"/>
            <a:ext cx="11034696" cy="18288"/>
          </a:xfrm>
          <a:prstGeom prst="rect">
            <a:avLst/>
          </a:prstGeom>
          <a:solidFill>
            <a:srgbClr val="DABD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1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1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1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2"/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2"/>
          <p:cNvSpPr txBox="1"/>
          <p:nvPr>
            <p:ph type="title"/>
          </p:nvPr>
        </p:nvSpPr>
        <p:spPr>
          <a:xfrm>
            <a:off x="557784" y="640080"/>
            <a:ext cx="10890504" cy="4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" type="body"/>
          </p:nvPr>
        </p:nvSpPr>
        <p:spPr>
          <a:xfrm>
            <a:off x="841248" y="5102352"/>
            <a:ext cx="10607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3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3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" type="body"/>
          </p:nvPr>
        </p:nvSpPr>
        <p:spPr>
          <a:xfrm>
            <a:off x="1115568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2" type="body"/>
          </p:nvPr>
        </p:nvSpPr>
        <p:spPr>
          <a:xfrm>
            <a:off x="6345936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4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4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4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1115568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4"/>
          <p:cNvSpPr txBox="1"/>
          <p:nvPr>
            <p:ph idx="2" type="body"/>
          </p:nvPr>
        </p:nvSpPr>
        <p:spPr>
          <a:xfrm>
            <a:off x="1115568" y="3203688"/>
            <a:ext cx="4937760" cy="296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3" type="body"/>
          </p:nvPr>
        </p:nvSpPr>
        <p:spPr>
          <a:xfrm>
            <a:off x="6345936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4"/>
          <p:cNvSpPr txBox="1"/>
          <p:nvPr>
            <p:ph idx="4" type="body"/>
          </p:nvPr>
        </p:nvSpPr>
        <p:spPr>
          <a:xfrm>
            <a:off x="6345936" y="3203687"/>
            <a:ext cx="4937760" cy="296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BBC9C9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1078992" y="1938528"/>
            <a:ext cx="10177272" cy="299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4965192" y="1709928"/>
            <a:ext cx="67299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868680" y="3429000"/>
            <a:ext cx="3099816" cy="20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8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8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/>
          <p:nvPr>
            <p:ph idx="2" type="pic"/>
          </p:nvPr>
        </p:nvSpPr>
        <p:spPr>
          <a:xfrm>
            <a:off x="4965192" y="1161288"/>
            <a:ext cx="6729984" cy="4645152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868680" y="3438144"/>
            <a:ext cx="309981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https://lucid.app/lucidspark/ff875f4d-1646-43c9-aab6-69da30d7ec74/edit?invitationId=inv_2d0564b5-960c-4d8b-8e11-d899f7013031&amp;page=0_0#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lucid.app/lucidspark/ff875f4d-1646-43c9-aab6-69da30d7ec74/edit?viewport_loc=-4194%2C-2957%2C3622%2C1655%2C0_0&amp;invitationId=inv_2d0564b5-960c-4d8b-8e11-d899f7013031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3">
            <a:alphaModFix/>
          </a:blip>
          <a:srcRect b="-1" l="0" r="-1" t="1108"/>
          <a:stretch/>
        </p:blipFill>
        <p:spPr>
          <a:xfrm>
            <a:off x="20" y="10"/>
            <a:ext cx="866849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/>
          <p:nvPr/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>
            <p:ph type="ctrTitle"/>
          </p:nvPr>
        </p:nvSpPr>
        <p:spPr>
          <a:xfrm>
            <a:off x="7848600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ca-ES" sz="4800"/>
              <a:t>Enginyeria del Software</a:t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ABDBD"/>
          </a:solidFill>
          <a:ln cap="flat" cmpd="sng" w="9525">
            <a:solidFill>
              <a:srgbClr val="DABDB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Pràctiques: Grup 451-10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0</a:t>
            </a:r>
            <a:r>
              <a:rPr lang="ca-ES">
                <a:solidFill>
                  <a:schemeClr val="dk1"/>
                </a:solidFill>
              </a:rPr>
              <a:t>4: Diagrama de Classes, Diagrames de Seqüencia</a:t>
            </a:r>
            <a:r>
              <a:rPr lang="ca-ES" sz="1100">
                <a:solidFill>
                  <a:schemeClr val="dk1"/>
                </a:solidFill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Composició de l’equip 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8820875" y="5579488"/>
            <a:ext cx="2904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ca-E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Santiago González Ballbé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ca-ES" sz="2100" u="none" cap="none" strike="noStrike">
                <a:solidFill>
                  <a:srgbClr val="38761D"/>
                </a:solidFill>
                <a:latin typeface="Impact"/>
                <a:ea typeface="Impact"/>
                <a:cs typeface="Impact"/>
                <a:sym typeface="Impact"/>
              </a:rPr>
              <a:t>SCRUM TEAM</a:t>
            </a:r>
            <a:endParaRPr b="0" i="0" sz="2100" u="none" cap="none" strike="noStrike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6210445" y="5579506"/>
            <a:ext cx="23190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ca-E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Uvén Díaz López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ca-ES" sz="21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SCRUM MASTER</a:t>
            </a:r>
            <a:endParaRPr sz="1700">
              <a:solidFill>
                <a:srgbClr val="38761D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rgbClr val="38761D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3716174" y="5600150"/>
            <a:ext cx="2319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ca-E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Nil Vázquez Tarjuelo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ca-ES" sz="2100" u="none" cap="none" strike="noStrike">
                <a:solidFill>
                  <a:srgbClr val="38761D"/>
                </a:solidFill>
                <a:latin typeface="Impact"/>
                <a:ea typeface="Impact"/>
                <a:cs typeface="Impact"/>
                <a:sym typeface="Impact"/>
              </a:rPr>
              <a:t>SCRUM TEAM</a:t>
            </a:r>
            <a:endParaRPr b="0" i="0" sz="17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456723" y="5549138"/>
            <a:ext cx="2904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Guilherme Jiménez Aguas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ca-ES" sz="2100">
                <a:solidFill>
                  <a:srgbClr val="38761D"/>
                </a:solidFill>
                <a:latin typeface="Impact"/>
                <a:ea typeface="Impact"/>
                <a:cs typeface="Impact"/>
                <a:sym typeface="Impact"/>
              </a:rPr>
              <a:t>SCRUM TEAM</a:t>
            </a:r>
            <a:endParaRPr sz="1700">
              <a:solidFill>
                <a:srgbClr val="38761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rgbClr val="38761D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500" y="1559500"/>
            <a:ext cx="5972998" cy="39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Trabajo realizado en el sprint</a:t>
            </a:r>
            <a:endParaRPr/>
          </a:p>
        </p:txBody>
      </p:sp>
      <p:sp>
        <p:nvSpPr>
          <p:cNvPr id="129" name="Google Shape;129;p3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598078" y="2538903"/>
            <a:ext cx="10020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★"/>
            </a:pPr>
            <a:r>
              <a:rPr lang="ca-ES" sz="1800">
                <a:solidFill>
                  <a:schemeClr val="dk1"/>
                </a:solidFill>
              </a:rPr>
              <a:t>Refinamiento diagrama de clases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★"/>
            </a:pPr>
            <a:r>
              <a:rPr lang="ca-ES" sz="1800">
                <a:solidFill>
                  <a:schemeClr val="dk1"/>
                </a:solidFill>
              </a:rPr>
              <a:t>Actualización </a:t>
            </a:r>
            <a:r>
              <a:rPr lang="ca-ES" sz="1800">
                <a:solidFill>
                  <a:schemeClr val="dk1"/>
                </a:solidFill>
              </a:rPr>
              <a:t>del </a:t>
            </a:r>
            <a:r>
              <a:rPr lang="ca-ES" sz="1800">
                <a:solidFill>
                  <a:schemeClr val="dk1"/>
                </a:solidFill>
              </a:rPr>
              <a:t>GitHub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★"/>
            </a:pPr>
            <a:r>
              <a:rPr lang="ca-ES" sz="1800">
                <a:solidFill>
                  <a:schemeClr val="dk1"/>
                </a:solidFill>
              </a:rPr>
              <a:t>Creación de los diagramas de secuencia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1" name="Google Shape;131;p3" title="imagen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7675" y="3415375"/>
            <a:ext cx="2634025" cy="244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type="title"/>
          </p:nvPr>
        </p:nvSpPr>
        <p:spPr>
          <a:xfrm>
            <a:off x="1073793" y="68465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Diagrama Caso de Uso final</a:t>
            </a:r>
            <a:endParaRPr/>
          </a:p>
        </p:txBody>
      </p:sp>
      <p:sp>
        <p:nvSpPr>
          <p:cNvPr id="137" name="Google Shape;137;p4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138" name="Google Shape;1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9725" y="965675"/>
            <a:ext cx="6528149" cy="575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>
            <p:ph type="title"/>
          </p:nvPr>
        </p:nvSpPr>
        <p:spPr>
          <a:xfrm>
            <a:off x="756675" y="0"/>
            <a:ext cx="2573100" cy="23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Diagrama Clases </a:t>
            </a:r>
            <a:endParaRPr/>
          </a:p>
        </p:txBody>
      </p:sp>
      <p:sp>
        <p:nvSpPr>
          <p:cNvPr id="144" name="Google Shape;144;p6"/>
          <p:cNvSpPr txBox="1"/>
          <p:nvPr>
            <p:ph idx="12" type="sldNum"/>
          </p:nvPr>
        </p:nvSpPr>
        <p:spPr>
          <a:xfrm>
            <a:off x="9271196" y="637352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3">
            <a:alphaModFix/>
          </a:blip>
          <a:srcRect b="1882" l="0" r="0" t="4930"/>
          <a:stretch/>
        </p:blipFill>
        <p:spPr>
          <a:xfrm>
            <a:off x="3329775" y="119375"/>
            <a:ext cx="8348076" cy="66192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/>
          <p:nvPr/>
        </p:nvSpPr>
        <p:spPr>
          <a:xfrm>
            <a:off x="329775" y="4124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ca-E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Tablero en blanco: Lucidspark</a:t>
            </a: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1132725" y="2767400"/>
            <a:ext cx="187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4000">
                <a:solidFill>
                  <a:schemeClr val="dk1"/>
                </a:solidFill>
              </a:rPr>
              <a:t>Antes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77b336a16_0_0"/>
          <p:cNvSpPr txBox="1"/>
          <p:nvPr>
            <p:ph type="title"/>
          </p:nvPr>
        </p:nvSpPr>
        <p:spPr>
          <a:xfrm>
            <a:off x="756675" y="0"/>
            <a:ext cx="2573100" cy="23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Diagrama Clases</a:t>
            </a:r>
            <a:endParaRPr/>
          </a:p>
        </p:txBody>
      </p:sp>
      <p:sp>
        <p:nvSpPr>
          <p:cNvPr id="153" name="Google Shape;153;g3e77b336a16_0_0"/>
          <p:cNvSpPr txBox="1"/>
          <p:nvPr>
            <p:ph idx="12" type="sldNum"/>
          </p:nvPr>
        </p:nvSpPr>
        <p:spPr>
          <a:xfrm>
            <a:off x="9271196" y="637352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54" name="Google Shape;154;g3e77b336a16_0_0"/>
          <p:cNvSpPr txBox="1"/>
          <p:nvPr/>
        </p:nvSpPr>
        <p:spPr>
          <a:xfrm>
            <a:off x="756675" y="3661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ca-ES" u="sng">
                <a:solidFill>
                  <a:schemeClr val="hlink"/>
                </a:solidFill>
                <a:hlinkClick r:id="rId3"/>
              </a:rPr>
              <a:t>Tablero: Lucidspark</a:t>
            </a: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g3e77b336a16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4925" y="21750"/>
            <a:ext cx="6960975" cy="68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e77b336a16_0_0"/>
          <p:cNvSpPr txBox="1"/>
          <p:nvPr/>
        </p:nvSpPr>
        <p:spPr>
          <a:xfrm>
            <a:off x="1235675" y="257597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4000">
                <a:solidFill>
                  <a:schemeClr val="dk1"/>
                </a:solidFill>
              </a:rPr>
              <a:t>Ahora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2edbd5e57_4_0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62" name="Google Shape;162;g3e2edbd5e57_4_0"/>
          <p:cNvSpPr txBox="1"/>
          <p:nvPr>
            <p:ph type="title"/>
          </p:nvPr>
        </p:nvSpPr>
        <p:spPr>
          <a:xfrm>
            <a:off x="907518" y="51149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Diagrama de Secuencia</a:t>
            </a:r>
            <a:endParaRPr/>
          </a:p>
        </p:txBody>
      </p:sp>
      <p:pic>
        <p:nvPicPr>
          <p:cNvPr id="163" name="Google Shape;163;g3e2edbd5e57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325" y="1634715"/>
            <a:ext cx="8235694" cy="4657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8261b0bf9_4_7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69" name="Google Shape;169;g3e8261b0bf9_4_7"/>
          <p:cNvSpPr txBox="1"/>
          <p:nvPr>
            <p:ph type="title"/>
          </p:nvPr>
        </p:nvSpPr>
        <p:spPr>
          <a:xfrm>
            <a:off x="1115493" y="3964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/>
              <a:t>Tabla especificaciones</a:t>
            </a:r>
            <a:endParaRPr/>
          </a:p>
        </p:txBody>
      </p:sp>
      <p:graphicFrame>
        <p:nvGraphicFramePr>
          <p:cNvPr id="170" name="Google Shape;170;g3e8261b0bf9_4_7"/>
          <p:cNvGraphicFramePr/>
          <p:nvPr/>
        </p:nvGraphicFramePr>
        <p:xfrm>
          <a:off x="269025" y="157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{500D16E5-DCBF-4C06-AA11-F58CF25B8575}</a:tableStyleId>
              </a:tblPr>
              <a:tblGrid>
                <a:gridCol w="1247775"/>
                <a:gridCol w="1590675"/>
                <a:gridCol w="0"/>
                <a:gridCol w="8718275"/>
              </a:tblGrid>
              <a:tr h="279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-ES" sz="1200"/>
                        <a:t>Caso de Uso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-ES" sz="1200"/>
                        <a:t>Proponer Plato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 hMerge="1"/>
                <a:tc hMerge="1"/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Versión</a:t>
                      </a:r>
                      <a:endParaRPr sz="8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1.0</a:t>
                      </a:r>
                      <a:endParaRPr sz="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279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Autores</a:t>
                      </a:r>
                      <a:endParaRPr sz="8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Grupo ES 451-10</a:t>
                      </a:r>
                      <a:endParaRPr sz="8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279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Descripción</a:t>
                      </a:r>
                      <a:endParaRPr sz="8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Permite a los clientes proponer comidas fuera de las propuestas por los cocineros para que un cocinero las vea, se hable un precio y las prepare. </a:t>
                      </a:r>
                      <a:endParaRPr sz="8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279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Actores</a:t>
                      </a:r>
                      <a:endParaRPr sz="8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Cliente, Cocinero</a:t>
                      </a:r>
                      <a:endParaRPr sz="8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279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Precondición</a:t>
                      </a:r>
                      <a:endParaRPr sz="8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El usuario debe estar registrado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El usuario debe tener el rol de "Cliente".</a:t>
                      </a:r>
                      <a:endParaRPr sz="8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279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Flujo Principal</a:t>
                      </a:r>
                      <a:endParaRPr sz="8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1. El cliente pone el título del plato, una descripción obligatoria y,si quiere, sube fotos de referencia.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2. El sistema publica la propuesta en un menú al que solo pueden acceder los cocineros.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3. Un cocinero ve el plato, abre el pop-up con la descripción y pulsa el botón para aceptar el pedido.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4. Al aceptar, el cocinero propone un precio.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5. El sistema avisa al cliente de que su propuesta ha sido aceptada junto con el precio fijado.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6. El cliente acepta el precio (o no, subflujo).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7. El sistema procede al proceso de pago.</a:t>
                      </a:r>
                      <a:endParaRPr sz="8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279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Subflujos</a:t>
                      </a:r>
                      <a:endParaRPr sz="8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-ES" sz="800"/>
                        <a:t>Rebatir precio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El cliente puede no aceptar el precio inicial y rebatir la propuesta mediante el chat privado con el cocinero.</a:t>
                      </a:r>
                      <a:endParaRPr sz="8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279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Flujos Alternativos</a:t>
                      </a:r>
                      <a:endParaRPr sz="8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Si el cliente no pone el título o la descripción (obligatoria), se muestra un error y no se publica la propuesta.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Si el cliente no acepta el precio y no llega a un acuerdo en el chat, rechaza la propuesta. </a:t>
                      </a:r>
                      <a:endParaRPr sz="8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40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Postcondición</a:t>
                      </a:r>
                      <a:endParaRPr sz="8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Se ha acordado un plato personalizado con un precio cerrado y se ha pagado, o la propuesta ha sido cancelada. </a:t>
                      </a:r>
                      <a:endParaRPr sz="8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279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Prioridad</a:t>
                      </a:r>
                      <a:endParaRPr sz="8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Media</a:t>
                      </a:r>
                      <a:endParaRPr sz="8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279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00"/>
                        <a:t>Comentarios</a:t>
                      </a:r>
                      <a:endParaRPr sz="8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63500" marB="63500" marR="63500" marL="63500"/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8261b0bf9_0_8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76" name="Google Shape;176;g3e8261b0bf9_0_8"/>
          <p:cNvSpPr txBox="1"/>
          <p:nvPr>
            <p:ph type="title"/>
          </p:nvPr>
        </p:nvSpPr>
        <p:spPr>
          <a:xfrm>
            <a:off x="907518" y="51149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Diagrama de Secuencia</a:t>
            </a:r>
            <a:endParaRPr/>
          </a:p>
        </p:txBody>
      </p:sp>
      <p:pic>
        <p:nvPicPr>
          <p:cNvPr id="177" name="Google Shape;177;g3e8261b0bf9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9900" y="1626275"/>
            <a:ext cx="5327726" cy="503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8261b0bf9_4_0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graphicFrame>
        <p:nvGraphicFramePr>
          <p:cNvPr id="184" name="Google Shape;184;g3e8261b0bf9_4_0"/>
          <p:cNvGraphicFramePr/>
          <p:nvPr/>
        </p:nvGraphicFramePr>
        <p:xfrm>
          <a:off x="247275" y="103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{500D16E5-DCBF-4C06-AA11-F58CF25B8575}</a:tableStyleId>
              </a:tblPr>
              <a:tblGrid>
                <a:gridCol w="2189025"/>
                <a:gridCol w="2790575"/>
                <a:gridCol w="2924225"/>
                <a:gridCol w="3904500"/>
              </a:tblGrid>
              <a:tr h="391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-ES" sz="1200"/>
                        <a:t>Caso de Uso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-ES" sz="1200"/>
                        <a:t>Consultar historial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 hMerge="1"/>
                <a:tc hMerge="1"/>
              </a:tr>
              <a:tr h="349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Versión</a:t>
                      </a:r>
                      <a:endParaRPr sz="9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1.0</a:t>
                      </a:r>
                      <a:endParaRPr sz="9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200"/>
                        <a:t>Fecha</a:t>
                      </a:r>
                      <a:endParaRPr sz="12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200"/>
                        <a:t>17/05/2026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349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Autores</a:t>
                      </a:r>
                      <a:endParaRPr sz="9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Grupo ES 451-10</a:t>
                      </a:r>
                      <a:endParaRPr sz="9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589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Descripción</a:t>
                      </a:r>
                      <a:endParaRPr sz="9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El sistema permite a los clientes ver el historial de pedidos hechos anteriormente. Además, da la opción de repetir un pedido anterior si el plato sigue estando disponible y no se supera el límite de pedidos (3). </a:t>
                      </a:r>
                      <a:endParaRPr sz="9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349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Actores</a:t>
                      </a:r>
                      <a:endParaRPr sz="9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Cliente </a:t>
                      </a:r>
                      <a:endParaRPr sz="9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42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Precondición</a:t>
                      </a:r>
                      <a:endParaRPr sz="9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El usuario debe estar registrado y tener el rol de "Cliente". Además debe haber completado al menos un pedido (para que no salga el historial vacío).</a:t>
                      </a:r>
                      <a:endParaRPr sz="9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341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Flujo Principal</a:t>
                      </a:r>
                      <a:endParaRPr sz="9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1. El cliente entra en la sección del historial de pedidos.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2. Se muestra la información sobre pedidos realizados por el usuario.</a:t>
                      </a:r>
                      <a:endParaRPr sz="9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106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Subflujos</a:t>
                      </a:r>
                      <a:endParaRPr sz="9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Durante la revisión del historial, el cliente puede seleccionar repetir un plato comprado anteriormente.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El sistema mira si el plato y el cocinero siguen estando disponibles y si el cliente no supere el límite pedidos.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El sistema reenvía al usuario a la confirmación de pedido con el plato seleccionado (Caso de uso de Realizar Pedido)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También se puede valorar un pedido.</a:t>
                      </a:r>
                      <a:endParaRPr sz="9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589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Flujos Alternativos</a:t>
                      </a:r>
                      <a:endParaRPr sz="9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Si el sistema detecta que el plato ya no se ofrece, no permite repetir el pedido. 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Si el cliente tiene más de tres pedidos activos al mismo tiempo, el sistema no permite hacer la compra. </a:t>
                      </a:r>
                      <a:endParaRPr sz="9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Postcondición</a:t>
                      </a:r>
                      <a:endParaRPr sz="9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El cliente ha visto su historial con éxito. Si se ha repetido pedido, se ha iniciado una nueva compra con los datos de un pedido anterior. </a:t>
                      </a:r>
                      <a:endParaRPr sz="9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349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Prioridad</a:t>
                      </a:r>
                      <a:endParaRPr sz="9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Media</a:t>
                      </a:r>
                      <a:endParaRPr sz="9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349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900"/>
                        <a:t>Comentarios</a:t>
                      </a:r>
                      <a:endParaRPr sz="9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63500" marB="63500" marR="63500" marL="63500"/>
                </a:tc>
                <a:tc hMerge="1"/>
                <a:tc hMerge="1"/>
              </a:tr>
            </a:tbl>
          </a:graphicData>
        </a:graphic>
      </p:graphicFrame>
      <p:sp>
        <p:nvSpPr>
          <p:cNvPr id="185" name="Google Shape;185;g3e8261b0bf9_4_0"/>
          <p:cNvSpPr txBox="1"/>
          <p:nvPr/>
        </p:nvSpPr>
        <p:spPr>
          <a:xfrm>
            <a:off x="964575" y="180875"/>
            <a:ext cx="815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4000">
                <a:solidFill>
                  <a:schemeClr val="dk1"/>
                </a:solidFill>
              </a:rPr>
              <a:t>Tabla especificaciones</a:t>
            </a:r>
            <a:endParaRPr b="1"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8261b0bf9_0_21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91" name="Google Shape;191;g3e8261b0bf9_0_21"/>
          <p:cNvSpPr txBox="1"/>
          <p:nvPr>
            <p:ph type="title"/>
          </p:nvPr>
        </p:nvSpPr>
        <p:spPr>
          <a:xfrm>
            <a:off x="907518" y="51149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Diagrama de Secuencia</a:t>
            </a:r>
            <a:endParaRPr/>
          </a:p>
        </p:txBody>
      </p:sp>
      <p:pic>
        <p:nvPicPr>
          <p:cNvPr id="192" name="Google Shape;192;g3e8261b0bf9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775" y="1691090"/>
            <a:ext cx="6668426" cy="4862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8261b0bf9_0_0"/>
          <p:cNvSpPr txBox="1"/>
          <p:nvPr>
            <p:ph type="title"/>
          </p:nvPr>
        </p:nvSpPr>
        <p:spPr>
          <a:xfrm>
            <a:off x="1011893" y="-113010"/>
            <a:ext cx="10168200" cy="117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/>
              <a:t>Tabla especificaciones</a:t>
            </a:r>
            <a:endParaRPr/>
          </a:p>
        </p:txBody>
      </p:sp>
      <p:sp>
        <p:nvSpPr>
          <p:cNvPr id="199" name="Google Shape;199;g3e8261b0bf9_0_0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graphicFrame>
        <p:nvGraphicFramePr>
          <p:cNvPr id="200" name="Google Shape;200;g3e8261b0bf9_0_0"/>
          <p:cNvGraphicFramePr/>
          <p:nvPr/>
        </p:nvGraphicFramePr>
        <p:xfrm>
          <a:off x="158013" y="77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{500D16E5-DCBF-4C06-AA11-F58CF25B8575}</a:tableStyleId>
              </a:tblPr>
              <a:tblGrid>
                <a:gridCol w="1168250"/>
                <a:gridCol w="10005825"/>
                <a:gridCol w="391275"/>
                <a:gridCol w="391275"/>
              </a:tblGrid>
              <a:tr h="31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-ES" sz="1250"/>
                        <a:t>Caso de Uso</a:t>
                      </a:r>
                      <a:endParaRPr b="1" sz="1250"/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-ES" sz="1250"/>
                        <a:t>Realizar Pedido </a:t>
                      </a:r>
                      <a:endParaRPr b="1" sz="1250"/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 hMerge="1"/>
                <a:tc hMerge="1"/>
              </a:tr>
              <a:tr h="31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Versión</a:t>
                      </a:r>
                      <a:endParaRPr sz="85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1.0</a:t>
                      </a:r>
                      <a:endParaRPr sz="85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31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Autores</a:t>
                      </a:r>
                      <a:endParaRPr sz="85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Grupo ES 451-10</a:t>
                      </a:r>
                      <a:endParaRPr sz="85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31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Descripción</a:t>
                      </a:r>
                      <a:endParaRPr sz="85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Permite a un cliente registrado configurar y confirmar la compra de un plato. Incluye la modificación de la receta, selección de método de entrega, posibilidad de hacer reservas y el proceso de pago.</a:t>
                      </a:r>
                      <a:endParaRPr sz="85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31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Actores</a:t>
                      </a:r>
                      <a:endParaRPr sz="85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Cliente, Plataforma de Pago (Sistema Externo) </a:t>
                      </a:r>
                      <a:endParaRPr sz="85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31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Precondición</a:t>
                      </a:r>
                      <a:endParaRPr sz="85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El cliente debe haber iniciado sesión y tener configurada una dirección. El cliente no puede tener más de 3 pedidos activos.</a:t>
                      </a:r>
                      <a:endParaRPr sz="85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186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Flujo Principal</a:t>
                      </a:r>
                      <a:endParaRPr sz="85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1. El cliente selecciona un plato del catálogo y pulsa "Realizar Pedido".</a:t>
                      </a:r>
                      <a:endParaRPr sz="85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2. El sistema verifica que el cliente tiene menos de 3 pedidos activos.</a:t>
                      </a:r>
                      <a:endParaRPr sz="85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3. El cliente revisa los ingredientes y elimina los opcionales si lo desea (Modificar Receta).</a:t>
                      </a:r>
                      <a:endParaRPr sz="85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4. El cliente selecciona una de las tres opciones de entrega (Repartidor app, Cocinero, o Recogida presencial).</a:t>
                      </a:r>
                      <a:endParaRPr sz="85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5. El sistema calcula el coste de envío según la distancia y añade el importe a la cesta.</a:t>
                      </a:r>
                      <a:endParaRPr sz="85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6. El cliente selecciona el método de pago (Tarjeta o PayPal).</a:t>
                      </a:r>
                      <a:endParaRPr sz="85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7. El sistema redirige a la Plataforma de Pago externa para autenticar la transacción (</a:t>
                      </a:r>
                      <a:r>
                        <a:rPr i="1" lang="ca-ES" sz="850"/>
                        <a:t>Include: Pagar Pedido</a:t>
                      </a:r>
                      <a:r>
                        <a:rPr lang="ca-ES" sz="850"/>
                        <a:t>).</a:t>
                      </a:r>
                      <a:endParaRPr sz="85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8. La plataforma confirma el pago exitoso.</a:t>
                      </a:r>
                      <a:endParaRPr sz="85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9. El sistema realiza el ingreso correspondiente a las cuentas del cocinero y/o repartidor y finaliza el pedido.</a:t>
                      </a:r>
                      <a:endParaRPr sz="85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507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Subflujos</a:t>
                      </a:r>
                      <a:endParaRPr sz="85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S1 - Reservar Pedido: Si el cocinero aparece como "No disponible" pero ha indicado una hora futura, en el paso 1 el cliente selecciona la opción de "Reservar" fijando la hora disponible del cocinero.</a:t>
                      </a:r>
                      <a:endParaRPr sz="85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S2 - Aplicar Puntos: En el paso 6, si el usuario tiene el plan de suscripción mensual, puede seleccionar usar sus puntos acumulados para aplicar un descuento al pago.</a:t>
                      </a:r>
                      <a:endParaRPr sz="85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507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Flujos Alternativos</a:t>
                      </a:r>
                      <a:endParaRPr sz="85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A1 - Límite de comandas excedido: En el paso 2, si el cliente ya tiene 3 pedidos en curso, el sistema detiene el proceso y muestra un aviso de que debe esperar a que acabe uno de sus pedidos actuales.</a:t>
                      </a:r>
                      <a:endParaRPr sz="850"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A2 - Pago rechazado: En el paso 8, si la plataforma de pago externa rechaza la transacción o el usuario la cancela, el sistema redirige al cliente a la cesta con un mensaje de error. El pedido no avanza.</a:t>
                      </a:r>
                      <a:endParaRPr sz="85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31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Postcondición</a:t>
                      </a:r>
                      <a:endParaRPr sz="85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El pedido se ha creado y pagado con éxito, pasando al estado "Pagado". El cocinero recibe la notificación para comenzar a preparar. </a:t>
                      </a:r>
                      <a:endParaRPr sz="85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31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Prioridad</a:t>
                      </a:r>
                      <a:endParaRPr sz="85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Urgente </a:t>
                      </a:r>
                      <a:endParaRPr sz="85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31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Comentarios</a:t>
                      </a:r>
                      <a:endParaRPr sz="850"/>
                    </a:p>
                  </a:txBody>
                  <a:tcPr marT="63500" marB="63500" marR="63500" marL="63500">
                    <a:solidFill>
                      <a:srgbClr val="FCE5CD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850"/>
                        <a:t>El coste de envío será cero si el cliente selecciona la opción de recogida presencial en el domicilio del cocinero.</a:t>
                      </a:r>
                      <a:endParaRPr sz="850"/>
                    </a:p>
                  </a:txBody>
                  <a:tcPr marT="63500" marB="63500" marR="63500" marL="63500"/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Burn-down chart</a:t>
            </a:r>
            <a:endParaRPr/>
          </a:p>
        </p:txBody>
      </p:sp>
      <p:sp>
        <p:nvSpPr>
          <p:cNvPr id="206" name="Google Shape;206;p7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207" name="Google Shape;20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500" y="1954891"/>
            <a:ext cx="7406547" cy="4824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8"/>
          <p:cNvPicPr preferRelativeResize="0"/>
          <p:nvPr/>
        </p:nvPicPr>
        <p:blipFill rotWithShape="1">
          <a:blip r:embed="rId3">
            <a:alphaModFix/>
          </a:blip>
          <a:srcRect b="-1" l="0" r="-1" t="1108"/>
          <a:stretch/>
        </p:blipFill>
        <p:spPr>
          <a:xfrm>
            <a:off x="20" y="10"/>
            <a:ext cx="866849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 txBox="1"/>
          <p:nvPr>
            <p:ph type="ctrTitle"/>
          </p:nvPr>
        </p:nvSpPr>
        <p:spPr>
          <a:xfrm>
            <a:off x="7848600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ca-ES" sz="4800"/>
              <a:t>Enginyeria del Software</a:t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ABDBD"/>
          </a:solidFill>
          <a:ln cap="flat" cmpd="sng" w="9525">
            <a:solidFill>
              <a:srgbClr val="DABDB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Pràctiques: Grup 451-10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03: Especificacions i Diagrama de Classes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2023-02-10T08:32:17Z</dcterms:created>
  <dc:creator>Jorge Bernal del Nozal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1700.0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