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wl4CN4P5HVUwQwS3samjWyoRO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ca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bbcb15d95_6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dbbcb15d95_6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bbcb15d95_6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dbbcb15d95_6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bbcb15d95_6_1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dbbcb15d95_6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bbcb15d95_6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dbbcb15d95_6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bbcb15d95_6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dbbcb15d95_6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bbcb15d95_6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dbbcb15d95_6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bbcb15d95_6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bbcb15d95_6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bbcb15d95_6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dbbcb15d95_6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576072" y="1124712"/>
            <a:ext cx="11036808" cy="3172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576072" y="4727448"/>
            <a:ext cx="1103680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5760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869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21" name="Google Shape;21;p9"/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9"/>
          <p:cNvSpPr/>
          <p:nvPr/>
        </p:nvSpPr>
        <p:spPr>
          <a:xfrm flipH="1" rot="10800000">
            <a:off x="578652" y="4501201"/>
            <a:ext cx="11034696" cy="18288"/>
          </a:xfrm>
          <a:prstGeom prst="rect">
            <a:avLst/>
          </a:prstGeom>
          <a:solidFill>
            <a:srgbClr val="DABD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0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0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0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1"/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1"/>
          <p:cNvSpPr txBox="1"/>
          <p:nvPr>
            <p:ph type="title"/>
          </p:nvPr>
        </p:nvSpPr>
        <p:spPr>
          <a:xfrm>
            <a:off x="557784" y="640080"/>
            <a:ext cx="10890504" cy="4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841248" y="5102352"/>
            <a:ext cx="106070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2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2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2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" type="body"/>
          </p:nvPr>
        </p:nvSpPr>
        <p:spPr>
          <a:xfrm>
            <a:off x="1115568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2" type="body"/>
          </p:nvPr>
        </p:nvSpPr>
        <p:spPr>
          <a:xfrm>
            <a:off x="6345936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3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1115568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1115568" y="3203688"/>
            <a:ext cx="4937760" cy="296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3" type="body"/>
          </p:nvPr>
        </p:nvSpPr>
        <p:spPr>
          <a:xfrm>
            <a:off x="6345936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3"/>
          <p:cNvSpPr txBox="1"/>
          <p:nvPr>
            <p:ph idx="4" type="body"/>
          </p:nvPr>
        </p:nvSpPr>
        <p:spPr>
          <a:xfrm>
            <a:off x="6345936" y="3203687"/>
            <a:ext cx="4937760" cy="2968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BBC9C9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1078992" y="1938528"/>
            <a:ext cx="10177272" cy="299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4965192" y="1709928"/>
            <a:ext cx="6729984" cy="409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2" type="body"/>
          </p:nvPr>
        </p:nvSpPr>
        <p:spPr>
          <a:xfrm>
            <a:off x="868680" y="3429000"/>
            <a:ext cx="3099816" cy="20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16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/>
          <p:nvPr>
            <p:ph idx="2" type="pic"/>
          </p:nvPr>
        </p:nvSpPr>
        <p:spPr>
          <a:xfrm>
            <a:off x="4965192" y="1161288"/>
            <a:ext cx="6729984" cy="4645152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868680" y="3438144"/>
            <a:ext cx="3099816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17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3">
            <a:alphaModFix/>
          </a:blip>
          <a:srcRect b="-1" l="0" r="-1" t="1108"/>
          <a:stretch/>
        </p:blipFill>
        <p:spPr>
          <a:xfrm>
            <a:off x="20" y="10"/>
            <a:ext cx="866849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/>
          <p:nvPr/>
        </p:nvSpPr>
        <p:spPr>
          <a:xfrm flipH="1">
            <a:off x="3707174" y="-5875"/>
            <a:ext cx="84804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>
            <p:ph type="ctrTitle"/>
          </p:nvPr>
        </p:nvSpPr>
        <p:spPr>
          <a:xfrm>
            <a:off x="7848600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ca-ES" sz="4800"/>
              <a:t>Ingeniería del Software</a:t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ABDBD"/>
          </a:solidFill>
          <a:ln cap="flat" cmpd="sng" w="9525">
            <a:solidFill>
              <a:srgbClr val="DABDB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848600" y="4866100"/>
            <a:ext cx="4292700" cy="13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Practicas: Grupo 451-10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-ES">
                <a:solidFill>
                  <a:schemeClr val="dk1"/>
                </a:solidFill>
              </a:rPr>
              <a:t>Sprint 02: Diagrama Casos de Uso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Composición del equipo 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8046125" y="5579488"/>
            <a:ext cx="2904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ca-E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Santiago González Ballbé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ca-ES" sz="2100">
                <a:solidFill>
                  <a:srgbClr val="38761D"/>
                </a:solidFill>
                <a:latin typeface="Impact"/>
                <a:ea typeface="Impact"/>
                <a:cs typeface="Impact"/>
                <a:sym typeface="Impact"/>
              </a:rPr>
              <a:t>SCRUM TEAM</a:t>
            </a:r>
            <a:endParaRPr b="0" i="0" sz="2100" u="none" cap="none" strike="noStrike">
              <a:solidFill>
                <a:srgbClr val="FF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5766820" y="5579506"/>
            <a:ext cx="2319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ca-E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Uvén Díaz López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ca-ES" sz="2100" u="none" cap="none" strike="noStrike">
                <a:solidFill>
                  <a:srgbClr val="38761D"/>
                </a:solidFill>
                <a:latin typeface="Impact"/>
                <a:ea typeface="Impact"/>
                <a:cs typeface="Impact"/>
                <a:sym typeface="Impact"/>
              </a:rPr>
              <a:t>SCRUM TEAM</a:t>
            </a:r>
            <a:endParaRPr b="0" i="0" sz="17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3447824" y="5579500"/>
            <a:ext cx="2319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ca-E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Nil Vázquez Tarjuelo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ca-ES" sz="2100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SCRUM MASTER</a:t>
            </a:r>
            <a:endParaRPr b="0" i="0" sz="17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456723" y="5549138"/>
            <a:ext cx="2904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Guilherme Jiménez Aguas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ca-ES" sz="2100" u="none" cap="none" strike="noStrike">
                <a:solidFill>
                  <a:srgbClr val="38761D"/>
                </a:solidFill>
                <a:latin typeface="Impact"/>
                <a:ea typeface="Impact"/>
                <a:cs typeface="Impact"/>
                <a:sym typeface="Impact"/>
              </a:rPr>
              <a:t>SCRUM TEAM</a:t>
            </a:r>
            <a:endParaRPr b="0" i="0" sz="17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2" title="scrumers.png"/>
          <p:cNvPicPr preferRelativeResize="0"/>
          <p:nvPr/>
        </p:nvPicPr>
        <p:blipFill rotWithShape="1">
          <a:blip r:embed="rId3">
            <a:alphaModFix/>
          </a:blip>
          <a:srcRect b="50" l="0" r="0" t="50"/>
          <a:stretch/>
        </p:blipFill>
        <p:spPr>
          <a:xfrm>
            <a:off x="2578875" y="1596200"/>
            <a:ext cx="7034250" cy="395295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"/>
          <p:cNvSpPr txBox="1"/>
          <p:nvPr/>
        </p:nvSpPr>
        <p:spPr>
          <a:xfrm>
            <a:off x="1607375" y="2451650"/>
            <a:ext cx="3810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Tareas realizadas en el sprint</a:t>
            </a:r>
            <a:endParaRPr/>
          </a:p>
        </p:txBody>
      </p:sp>
      <p:sp>
        <p:nvSpPr>
          <p:cNvPr id="130" name="Google Shape;130;p3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428603" y="2198728"/>
            <a:ext cx="10020900" cy="25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ca-ES" sz="1900">
                <a:solidFill>
                  <a:schemeClr val="dk1"/>
                </a:solidFill>
              </a:rPr>
              <a:t>Reunión del Sprint 2 (Sprint Planning Meeting) y planificación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ca-ES" sz="1900">
                <a:solidFill>
                  <a:schemeClr val="dk1"/>
                </a:solidFill>
              </a:rPr>
              <a:t>Refinar y retocar los requisitos (según feedback Sprint 1)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lang="ca-ES" sz="1900">
                <a:solidFill>
                  <a:schemeClr val="dk1"/>
                </a:solidFill>
              </a:rPr>
              <a:t>Identificar Funcionalidades por perfiles de usuario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lang="ca-ES" sz="1900">
                <a:solidFill>
                  <a:schemeClr val="dk1"/>
                </a:solidFill>
              </a:rPr>
              <a:t>Diagrama de casos de uso 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ca-ES" sz="1900">
                <a:solidFill>
                  <a:schemeClr val="dk1"/>
                </a:solidFill>
              </a:rPr>
              <a:t>Generación del Burn-down Chart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ca-ES" sz="1900">
                <a:solidFill>
                  <a:schemeClr val="dk1"/>
                </a:solidFill>
              </a:rPr>
              <a:t>https://shorturl.at/zpPzJ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32" name="Google Shape;13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8225" y="3095625"/>
            <a:ext cx="5197000" cy="348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bbcb15d95_6_2"/>
          <p:cNvSpPr txBox="1"/>
          <p:nvPr>
            <p:ph type="title"/>
          </p:nvPr>
        </p:nvSpPr>
        <p:spPr>
          <a:xfrm>
            <a:off x="816100" y="548650"/>
            <a:ext cx="111660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Perfiles de usuario para el diagrama</a:t>
            </a:r>
            <a:endParaRPr/>
          </a:p>
        </p:txBody>
      </p:sp>
      <p:sp>
        <p:nvSpPr>
          <p:cNvPr id="138" name="Google Shape;138;g3dbbcb15d95_6_2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39" name="Google Shape;139;g3dbbcb15d95_6_2"/>
          <p:cNvSpPr txBox="1"/>
          <p:nvPr/>
        </p:nvSpPr>
        <p:spPr>
          <a:xfrm>
            <a:off x="297050" y="3400550"/>
            <a:ext cx="11793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Perfil 1: </a:t>
            </a:r>
            <a:r>
              <a:rPr b="1" lang="ca-ES" sz="1800">
                <a:solidFill>
                  <a:schemeClr val="dk1"/>
                </a:solidFill>
              </a:rPr>
              <a:t>Cliente	</a:t>
            </a:r>
            <a:r>
              <a:rPr lang="ca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lang="ca-ES" sz="1800">
                <a:solidFill>
                  <a:schemeClr val="dk1"/>
                </a:solidFill>
              </a:rPr>
              <a:t>Perfil 2: </a:t>
            </a:r>
            <a:r>
              <a:rPr b="1" lang="ca-ES" sz="1800">
                <a:solidFill>
                  <a:schemeClr val="dk1"/>
                </a:solidFill>
              </a:rPr>
              <a:t>Repartidor	</a:t>
            </a:r>
            <a:r>
              <a:rPr lang="ca-ES" sz="1800">
                <a:solidFill>
                  <a:schemeClr val="dk1"/>
                </a:solidFill>
              </a:rPr>
              <a:t>     </a:t>
            </a:r>
            <a:r>
              <a:rPr lang="ca-ES" sz="1800">
                <a:solidFill>
                  <a:schemeClr val="dk1"/>
                </a:solidFill>
              </a:rPr>
              <a:t>Perfil 3: </a:t>
            </a:r>
            <a:r>
              <a:rPr b="1" lang="ca-ES" sz="1800">
                <a:solidFill>
                  <a:schemeClr val="dk1"/>
                </a:solidFill>
              </a:rPr>
              <a:t>Cocinero         </a:t>
            </a:r>
            <a:r>
              <a:rPr lang="ca-ES" sz="1800">
                <a:solidFill>
                  <a:schemeClr val="dk1"/>
                </a:solidFill>
              </a:rPr>
              <a:t>Perfil 4</a:t>
            </a:r>
            <a:r>
              <a:rPr b="1" lang="ca-ES" sz="1800">
                <a:solidFill>
                  <a:schemeClr val="dk1"/>
                </a:solidFill>
              </a:rPr>
              <a:t>:Usuario no registrado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0" name="Google Shape;140;g3dbbcb15d95_6_2"/>
          <p:cNvPicPr preferRelativeResize="0"/>
          <p:nvPr/>
        </p:nvPicPr>
        <p:blipFill rotWithShape="1">
          <a:blip r:embed="rId3">
            <a:alphaModFix/>
          </a:blip>
          <a:srcRect b="0" l="0" r="75465" t="0"/>
          <a:stretch/>
        </p:blipFill>
        <p:spPr>
          <a:xfrm>
            <a:off x="583500" y="1821422"/>
            <a:ext cx="1813907" cy="1857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dbbcb15d95_6_2"/>
          <p:cNvPicPr preferRelativeResize="0"/>
          <p:nvPr/>
        </p:nvPicPr>
        <p:blipFill rotWithShape="1">
          <a:blip r:embed="rId3">
            <a:alphaModFix/>
          </a:blip>
          <a:srcRect b="3902" l="36818" r="37423" t="9780"/>
          <a:stretch/>
        </p:blipFill>
        <p:spPr>
          <a:xfrm>
            <a:off x="3362613" y="2043324"/>
            <a:ext cx="1878112" cy="1580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dbbcb15d95_6_2"/>
          <p:cNvPicPr preferRelativeResize="0"/>
          <p:nvPr/>
        </p:nvPicPr>
        <p:blipFill rotWithShape="1">
          <a:blip r:embed="rId3">
            <a:alphaModFix/>
          </a:blip>
          <a:srcRect b="4670" l="76192" r="1301" t="12535"/>
          <a:stretch/>
        </p:blipFill>
        <p:spPr>
          <a:xfrm>
            <a:off x="6077826" y="2072238"/>
            <a:ext cx="1648349" cy="152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dbbcb15d95_6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41999" y="2009635"/>
            <a:ext cx="1648350" cy="164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dbbcb15d95_6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8675" y="4823525"/>
            <a:ext cx="1675150" cy="167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dbbcb15d95_6_2"/>
          <p:cNvSpPr txBox="1"/>
          <p:nvPr/>
        </p:nvSpPr>
        <p:spPr>
          <a:xfrm>
            <a:off x="4857750" y="6394900"/>
            <a:ext cx="31530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>
                <a:solidFill>
                  <a:schemeClr val="dk1"/>
                </a:solidFill>
              </a:rPr>
              <a:t>Perfil 5:</a:t>
            </a:r>
            <a:r>
              <a:rPr b="1" lang="ca-ES" sz="1600">
                <a:solidFill>
                  <a:schemeClr val="dk1"/>
                </a:solidFill>
              </a:rPr>
              <a:t>Usuario registrado</a:t>
            </a:r>
            <a:endParaRPr b="1" sz="1600">
              <a:solidFill>
                <a:schemeClr val="dk1"/>
              </a:solidFill>
            </a:endParaRPr>
          </a:p>
        </p:txBody>
      </p:sp>
      <p:cxnSp>
        <p:nvCxnSpPr>
          <p:cNvPr id="146" name="Google Shape;146;g3dbbcb15d95_6_2"/>
          <p:cNvCxnSpPr/>
          <p:nvPr/>
        </p:nvCxnSpPr>
        <p:spPr>
          <a:xfrm>
            <a:off x="1635675" y="4138450"/>
            <a:ext cx="3222000" cy="142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g3dbbcb15d95_6_2"/>
          <p:cNvCxnSpPr/>
          <p:nvPr/>
        </p:nvCxnSpPr>
        <p:spPr>
          <a:xfrm>
            <a:off x="4394650" y="4099025"/>
            <a:ext cx="748800" cy="91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g3dbbcb15d95_6_2"/>
          <p:cNvCxnSpPr/>
          <p:nvPr/>
        </p:nvCxnSpPr>
        <p:spPr>
          <a:xfrm flipH="1">
            <a:off x="6493400" y="4069475"/>
            <a:ext cx="640500" cy="89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g3dbbcb15d95_6_2"/>
          <p:cNvCxnSpPr/>
          <p:nvPr/>
        </p:nvCxnSpPr>
        <p:spPr>
          <a:xfrm flipH="1" rot="10800000">
            <a:off x="6966400" y="4227100"/>
            <a:ext cx="2276100" cy="13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bbcb15d95_6_117"/>
          <p:cNvSpPr txBox="1"/>
          <p:nvPr>
            <p:ph type="title"/>
          </p:nvPr>
        </p:nvSpPr>
        <p:spPr>
          <a:xfrm>
            <a:off x="816100" y="548650"/>
            <a:ext cx="111660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Diagrama de Casos de Uso</a:t>
            </a:r>
            <a:endParaRPr/>
          </a:p>
        </p:txBody>
      </p:sp>
      <p:sp>
        <p:nvSpPr>
          <p:cNvPr id="155" name="Google Shape;155;g3dbbcb15d95_6_117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pic>
        <p:nvPicPr>
          <p:cNvPr id="156" name="Google Shape;156;g3dbbcb15d95_6_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8975" y="1656800"/>
            <a:ext cx="5827284" cy="482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bbcb15d95_6_134"/>
          <p:cNvSpPr txBox="1"/>
          <p:nvPr>
            <p:ph type="title"/>
          </p:nvPr>
        </p:nvSpPr>
        <p:spPr>
          <a:xfrm>
            <a:off x="816100" y="548650"/>
            <a:ext cx="111660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Diagrama de Casos de Uso</a:t>
            </a:r>
            <a:endParaRPr/>
          </a:p>
        </p:txBody>
      </p:sp>
      <p:sp>
        <p:nvSpPr>
          <p:cNvPr id="162" name="Google Shape;162;g3dbbcb15d95_6_134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pic>
        <p:nvPicPr>
          <p:cNvPr id="163" name="Google Shape;163;g3dbbcb15d95_6_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1375" y="1826750"/>
            <a:ext cx="5639098" cy="482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dbbcb15d95_6_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40488" y="1973750"/>
            <a:ext cx="3505224" cy="3084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bbcb15d95_6_141"/>
          <p:cNvSpPr txBox="1"/>
          <p:nvPr>
            <p:ph type="title"/>
          </p:nvPr>
        </p:nvSpPr>
        <p:spPr>
          <a:xfrm>
            <a:off x="816100" y="548650"/>
            <a:ext cx="111660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ca-ES"/>
              <a:t>Diagrama de Casos de Uso:Usuario no registrado</a:t>
            </a:r>
            <a:endParaRPr/>
          </a:p>
        </p:txBody>
      </p:sp>
      <p:sp>
        <p:nvSpPr>
          <p:cNvPr id="170" name="Google Shape;170;g3dbbcb15d95_6_141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pic>
        <p:nvPicPr>
          <p:cNvPr id="171" name="Google Shape;171;g3dbbcb15d95_6_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4675" y="2118975"/>
            <a:ext cx="7420300" cy="467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bbcb15d95_6_149"/>
          <p:cNvSpPr txBox="1"/>
          <p:nvPr>
            <p:ph type="title"/>
          </p:nvPr>
        </p:nvSpPr>
        <p:spPr>
          <a:xfrm>
            <a:off x="816100" y="548650"/>
            <a:ext cx="111660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ca-ES"/>
              <a:t>Diagrama de Casos de Uso:Usuario registrado</a:t>
            </a:r>
            <a:endParaRPr/>
          </a:p>
        </p:txBody>
      </p:sp>
      <p:sp>
        <p:nvSpPr>
          <p:cNvPr id="177" name="Google Shape;177;g3dbbcb15d95_6_149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78" name="Google Shape;178;g3dbbcb15d95_6_149"/>
          <p:cNvSpPr txBox="1"/>
          <p:nvPr/>
        </p:nvSpPr>
        <p:spPr>
          <a:xfrm>
            <a:off x="650325" y="2650575"/>
            <a:ext cx="33501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79" name="Google Shape;179;g3dbbcb15d95_6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8250" y="2292513"/>
            <a:ext cx="7889076" cy="349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bbcb15d95_6_156"/>
          <p:cNvSpPr txBox="1"/>
          <p:nvPr>
            <p:ph type="title"/>
          </p:nvPr>
        </p:nvSpPr>
        <p:spPr>
          <a:xfrm>
            <a:off x="816100" y="548650"/>
            <a:ext cx="111660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Diagrama de Casos de Uso:Chef</a:t>
            </a:r>
            <a:endParaRPr/>
          </a:p>
        </p:txBody>
      </p:sp>
      <p:sp>
        <p:nvSpPr>
          <p:cNvPr id="185" name="Google Shape;185;g3dbbcb15d95_6_156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86" name="Google Shape;186;g3dbbcb15d95_6_156"/>
          <p:cNvSpPr txBox="1"/>
          <p:nvPr/>
        </p:nvSpPr>
        <p:spPr>
          <a:xfrm>
            <a:off x="650325" y="2650575"/>
            <a:ext cx="33501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87" name="Google Shape;187;g3dbbcb15d95_6_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7950" y="1984200"/>
            <a:ext cx="5676105" cy="432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bbcb15d95_6_164"/>
          <p:cNvSpPr txBox="1"/>
          <p:nvPr>
            <p:ph type="title"/>
          </p:nvPr>
        </p:nvSpPr>
        <p:spPr>
          <a:xfrm>
            <a:off x="816100" y="548650"/>
            <a:ext cx="111660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Diagrama de Casos de Uso:Repartidor</a:t>
            </a:r>
            <a:endParaRPr/>
          </a:p>
        </p:txBody>
      </p:sp>
      <p:sp>
        <p:nvSpPr>
          <p:cNvPr id="193" name="Google Shape;193;g3dbbcb15d95_6_164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94" name="Google Shape;194;g3dbbcb15d95_6_164"/>
          <p:cNvSpPr txBox="1"/>
          <p:nvPr/>
        </p:nvSpPr>
        <p:spPr>
          <a:xfrm>
            <a:off x="650325" y="2650575"/>
            <a:ext cx="33501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95" name="Google Shape;195;g3dbbcb15d95_6_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1725" y="2284425"/>
            <a:ext cx="7591425" cy="38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bbcb15d95_6_174"/>
          <p:cNvSpPr txBox="1"/>
          <p:nvPr>
            <p:ph type="title"/>
          </p:nvPr>
        </p:nvSpPr>
        <p:spPr>
          <a:xfrm>
            <a:off x="816100" y="548650"/>
            <a:ext cx="111660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Diagrama de Casos de Uso:Cliente</a:t>
            </a:r>
            <a:endParaRPr/>
          </a:p>
        </p:txBody>
      </p:sp>
      <p:sp>
        <p:nvSpPr>
          <p:cNvPr id="201" name="Google Shape;201;g3dbbcb15d95_6_174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202" name="Google Shape;202;g3dbbcb15d95_6_174"/>
          <p:cNvSpPr txBox="1"/>
          <p:nvPr/>
        </p:nvSpPr>
        <p:spPr>
          <a:xfrm>
            <a:off x="650325" y="2650575"/>
            <a:ext cx="33501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03" name="Google Shape;203;g3dbbcb15d95_6_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4500" y="2149850"/>
            <a:ext cx="6363012" cy="432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Burn-down chart</a:t>
            </a:r>
            <a:endParaRPr/>
          </a:p>
        </p:txBody>
      </p:sp>
      <p:sp>
        <p:nvSpPr>
          <p:cNvPr id="209" name="Google Shape;209;p6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pic>
        <p:nvPicPr>
          <p:cNvPr id="210" name="Google Shape;21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675" y="1896491"/>
            <a:ext cx="7744877" cy="4824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2023-02-10T08:32:17Z</dcterms:created>
  <dc:creator>Jorge Bernal del Nozal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1700.0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